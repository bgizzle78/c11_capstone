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71" r:id="rId3"/>
    <p:sldId id="272" r:id="rId4"/>
    <p:sldId id="280" r:id="rId5"/>
    <p:sldId id="276" r:id="rId6"/>
    <p:sldId id="262" r:id="rId7"/>
    <p:sldId id="273" r:id="rId8"/>
    <p:sldId id="263" r:id="rId9"/>
    <p:sldId id="275" r:id="rId10"/>
    <p:sldId id="274" r:id="rId11"/>
    <p:sldId id="267" r:id="rId12"/>
    <p:sldId id="279" r:id="rId13"/>
    <p:sldId id="269" r:id="rId14"/>
    <p:sldId id="265" r:id="rId15"/>
    <p:sldId id="278" r:id="rId1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7036" autoAdjust="0"/>
  </p:normalViewPr>
  <p:slideViewPr>
    <p:cSldViewPr>
      <p:cViewPr varScale="1">
        <p:scale>
          <a:sx n="63" d="100"/>
          <a:sy n="63" d="100"/>
        </p:scale>
        <p:origin x="1020" y="72"/>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67" d="100"/>
          <a:sy n="67" d="100"/>
        </p:scale>
        <p:origin x="274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11/17/2025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11/17/2025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lumMod val="50000"/>
                  </a:schemeClr>
                </a:solidFill>
                <a:effectLst/>
                <a:latin typeface="+mn-lt"/>
                <a:ea typeface="+mn-ea"/>
                <a:cs typeface="+mn-cs"/>
              </a:rPr>
              <a:t>Hello everyone. For my capstone project, I chose to explore a topic relevant to every person in every country—happiness. Happiness is more than just how we feel personally—it’s emerging as a powerful indicator of national progress embraced by governments and researchers worldwide. The World Happiness Report, published annually, assesses well-being beyond traditional economic measures. </a:t>
            </a:r>
            <a:r>
              <a:rPr lang="en-US" dirty="0"/>
              <a:t>We often hear the saying that ‘money can’t buy happiness,’ but the data tells a more nuanced story. </a:t>
            </a:r>
            <a:r>
              <a:rPr lang="en-US" sz="1200" b="0" i="0" kern="1200" dirty="0">
                <a:solidFill>
                  <a:schemeClr val="tx1">
                    <a:lumMod val="50000"/>
                  </a:schemeClr>
                </a:solidFill>
                <a:effectLst/>
                <a:latin typeface="+mn-lt"/>
                <a:ea typeface="+mn-ea"/>
                <a:cs typeface="+mn-cs"/>
              </a:rPr>
              <a:t>My core question was: What factors drive national happiness, and how do these drivers vary globally? To answer that, I analyzed data from the World Happiness Report alongside World Bank’s development indicators, focusing on three crucial elements: GDP, health, and education. I also explored how these factors interact by</a:t>
            </a:r>
            <a:r>
              <a:rPr lang="en-US" dirty="0"/>
              <a:t> looking at patterns across countries and regions, and by the end, we’ll see what makes the happiest nations stand out — and what could happen if lower-happiness countries improved in certain areas. </a:t>
            </a:r>
            <a:r>
              <a:rPr lang="en-US" sz="1200" b="0" i="0" kern="1200" dirty="0">
                <a:solidFill>
                  <a:schemeClr val="tx1">
                    <a:lumMod val="50000"/>
                  </a:schemeClr>
                </a:solidFill>
                <a:effectLst/>
                <a:latin typeface="+mn-lt"/>
                <a:ea typeface="+mn-ea"/>
                <a:cs typeface="+mn-cs"/>
              </a:rPr>
              <a:t>This work matters because with better measurements, countries can make smarter choices to improve real lives—not just statistics.</a:t>
            </a: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1</a:t>
            </a:fld>
            <a:endParaRPr lang="en-US"/>
          </a:p>
        </p:txBody>
      </p:sp>
    </p:spTree>
    <p:extLst>
      <p:ext uri="{BB962C8B-B14F-4D97-AF65-F5344CB8AC3E}">
        <p14:creationId xmlns:p14="http://schemas.microsoft.com/office/powerpoint/2010/main" val="1857918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To break it down further, I formulated several guiding questions: How does wealth correlate with happiness? Is there a threshold beyond which more wealth is less impactful? How do health and education contribute? And can enhancing these in lower-happiness countries significantly raise their well-being?</a:t>
            </a:r>
            <a:br>
              <a:rPr lang="en-US" sz="1200" b="0" i="0" kern="1200" dirty="0">
                <a:solidFill>
                  <a:schemeClr val="tx1">
                    <a:lumMod val="50000"/>
                  </a:schemeClr>
                </a:solidFill>
                <a:effectLst/>
                <a:latin typeface="+mn-lt"/>
                <a:ea typeface="+mn-ea"/>
                <a:cs typeface="+mn-cs"/>
              </a:rPr>
            </a:br>
            <a:r>
              <a:rPr lang="en-US" sz="1200" b="0" i="0" kern="1200" dirty="0">
                <a:solidFill>
                  <a:schemeClr val="tx1">
                    <a:lumMod val="50000"/>
                  </a:schemeClr>
                </a:solidFill>
                <a:effectLst/>
                <a:latin typeface="+mn-lt"/>
                <a:ea typeface="+mn-ea"/>
                <a:cs typeface="+mn-cs"/>
              </a:rPr>
              <a:t>This framework enabled a comprehensive analysis, balancing economic and social perspectives while grounding the work in global datasets. Looking at multiple angles means we get a richer, more complete picture of what leads to well-being, rather than relying on just one measure.</a:t>
            </a:r>
          </a:p>
          <a:p>
            <a:br>
              <a:rPr lang="en-US" dirty="0"/>
            </a:b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2265355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This world map displays happiness scores from 2024, with colors representing relative happiness levels—lighter shades signify happier countries and darker shades for less happy countries. Northern European countries, such as Finland and Denmark, consistently lead the rankings. On the other hand, parts of Africa and South Asia generally record lower happiness scores. These trends reflect complex socio-economic factors, including income levels, education quality, health services, governance structure, and cultural aspects. Recognizing these geographic patterns is essential for targeting specific policy interventions to improve well-being in underserved areas. Maps like this are especially useful for spotting which regions are outliers, helping policymakers prioritize efforts. </a:t>
            </a:r>
            <a:r>
              <a:rPr lang="en-US" dirty="0"/>
              <a:t>So, before we dig into specifics, the takeaway here is that happiness tends to cluster — high in well-developed regions and lower in areas with economic or social challenges.</a:t>
            </a:r>
          </a:p>
          <a:p>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3</a:t>
            </a:fld>
            <a:endParaRPr lang="en-US"/>
          </a:p>
        </p:txBody>
      </p:sp>
    </p:spTree>
    <p:extLst>
      <p:ext uri="{BB962C8B-B14F-4D97-AF65-F5344CB8AC3E}">
        <p14:creationId xmlns:p14="http://schemas.microsoft.com/office/powerpoint/2010/main" val="1952794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This regional bar chart distills the data into average happiness scores by geographic areas for the latest year. Noticeable disparities appear—regions like Northern Europe and North America consistently score higher, while Sub-Saharan Africa and South Asia lag behind. These variations correspond strongly with differences in economic prosperity, investment in health infrastructure, and education access. Such disparities underscore global inequality and the necessity for tailored development efforts addressing region-specific challenges. It also highlights that policy recipes for happiness are not ‘one size fits all’—local context plays a big role.</a:t>
            </a: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4</a:t>
            </a:fld>
            <a:endParaRPr lang="en-US"/>
          </a:p>
        </p:txBody>
      </p:sp>
    </p:spTree>
    <p:extLst>
      <p:ext uri="{BB962C8B-B14F-4D97-AF65-F5344CB8AC3E}">
        <p14:creationId xmlns:p14="http://schemas.microsoft.com/office/powerpoint/2010/main" val="1452297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Moving beyond snapshots, the line chart traces happiness trends over recent years across regions. This longitudinal perspective reveals that while some regions experience steady improvements, others have volatile or stagnant happiness trajectories. For example, Europe demonstrates relative stability with gradual gains, reflecting sustained policy focus on social welfare. Sub-Saharan Africa shows fluctuations possibly due to political instability,  economic swings and health crises. Tracking these trends over time helps policymakers and researchers understand the effectiveness of interventions and where renewed efforts are required. Long-term data like this are vital to spot which changes truly work and which are just temporary blips.</a:t>
            </a:r>
          </a:p>
        </p:txBody>
      </p:sp>
      <p:sp>
        <p:nvSpPr>
          <p:cNvPr id="4" name="Slide Number Placeholder 3"/>
          <p:cNvSpPr>
            <a:spLocks noGrp="1"/>
          </p:cNvSpPr>
          <p:nvPr>
            <p:ph type="sldNum" sz="quarter" idx="5"/>
          </p:nvPr>
        </p:nvSpPr>
        <p:spPr/>
        <p:txBody>
          <a:bodyPr/>
          <a:lstStyle/>
          <a:p>
            <a:fld id="{69C971FF-EF28-4195-A575-329446EFAA55}" type="slidenum">
              <a:rPr lang="en-US" smtClean="0"/>
              <a:t>5</a:t>
            </a:fld>
            <a:endParaRPr lang="en-US"/>
          </a:p>
        </p:txBody>
      </p:sp>
    </p:spTree>
    <p:extLst>
      <p:ext uri="{BB962C8B-B14F-4D97-AF65-F5344CB8AC3E}">
        <p14:creationId xmlns:p14="http://schemas.microsoft.com/office/powerpoint/2010/main" val="32074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Analyzing GDP per capita against happiness scores reveals an evident positive relationship. Generally, higher income correlates with higher happiness levels—supporting the idea that economic well-being paves the way for a better quality of life. However, the scatter plot also illustrates numerous outliers. Some countries achieve higher happiness than their GDP levels suggest, highlighting the importance of social capital, governance quality, and other non-monetary factors. Similarly, some wealthier countries show modest happiness levels, indicating economic success alone isn’t sufficient. These observations emphasize that wealth’s relationship to happiness is nuanced and multifaceted. It’s a reminder that even with growth, leaders must invest in the human side of development.</a:t>
            </a:r>
            <a:endParaRPr lang="en-US" dirty="0"/>
          </a:p>
        </p:txBody>
      </p:sp>
      <p:sp>
        <p:nvSpPr>
          <p:cNvPr id="4" name="Slide Number Placeholder 3"/>
          <p:cNvSpPr>
            <a:spLocks noGrp="1"/>
          </p:cNvSpPr>
          <p:nvPr>
            <p:ph type="sldNum" sz="quarter" idx="10"/>
          </p:nvPr>
        </p:nvSpPr>
        <p:spPr/>
        <p:txBody>
          <a:bodyPr/>
          <a:lstStyle/>
          <a:p>
            <a:fld id="{3A2CC701-D80A-463B-8415-A85485312088}" type="slidenum">
              <a:rPr lang="en-US" smtClean="0"/>
              <a:t>6</a:t>
            </a:fld>
            <a:endParaRPr lang="en-US"/>
          </a:p>
        </p:txBody>
      </p:sp>
    </p:spTree>
    <p:extLst>
      <p:ext uri="{BB962C8B-B14F-4D97-AF65-F5344CB8AC3E}">
        <p14:creationId xmlns:p14="http://schemas.microsoft.com/office/powerpoint/2010/main" val="4136793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Grouping countries by income levels and examining their average happiness illustrates a steep increase in happiness from low to middle income groups. This jump correlates with basic needs being met—security, nutrition, shelter, and access to essential services. However, at higher income levels, the curve plateaus, reflecting the ‘diminishing returns’ concept. Beyond a certain economic status, additional wealth does little to increase reported happiness. Instead, individual happiness becomes increasingly sensitive to other factors such as health quality, community engagement, education, and personal freedoms. This pattern also supports findings from psychology and sociology showing that once people feel safe and secure, relationships and engagement matter much more.</a:t>
            </a:r>
          </a:p>
        </p:txBody>
      </p:sp>
      <p:sp>
        <p:nvSpPr>
          <p:cNvPr id="4" name="Slide Number Placeholder 3"/>
          <p:cNvSpPr>
            <a:spLocks noGrp="1"/>
          </p:cNvSpPr>
          <p:nvPr>
            <p:ph type="sldNum" sz="quarter" idx="5"/>
          </p:nvPr>
        </p:nvSpPr>
        <p:spPr/>
        <p:txBody>
          <a:bodyPr/>
          <a:lstStyle/>
          <a:p>
            <a:fld id="{69C971FF-EF28-4195-A575-329446EFAA55}" type="slidenum">
              <a:rPr lang="en-US" smtClean="0"/>
              <a:t>7</a:t>
            </a:fld>
            <a:endParaRPr lang="en-US"/>
          </a:p>
        </p:txBody>
      </p:sp>
    </p:spTree>
    <p:extLst>
      <p:ext uri="{BB962C8B-B14F-4D97-AF65-F5344CB8AC3E}">
        <p14:creationId xmlns:p14="http://schemas.microsoft.com/office/powerpoint/2010/main" val="1773550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Examining health expenditure reveals a strong positive association with happiness. Countries investing more in healthcare systems generally report higher happiness scores, highlighting the critical role of health in well-being. Yet, we observe cases where high spending doesn’t translate into proportionally higher happiness—signaling that system efficiency, equitable access, and healthcare quality are equally vital. This suggests that well-rounded health policies focusing on fairness and effectiveness are necessary for translating funding into happiness gains. Universal access and prevention often make a bigger difference than just spending more on hospitals or medication.</a:t>
            </a: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8</a:t>
            </a:fld>
            <a:endParaRPr lang="en-US"/>
          </a:p>
        </p:txBody>
      </p:sp>
    </p:spTree>
    <p:extLst>
      <p:ext uri="{BB962C8B-B14F-4D97-AF65-F5344CB8AC3E}">
        <p14:creationId xmlns:p14="http://schemas.microsoft.com/office/powerpoint/2010/main" val="4237623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221D6-9C16-CD52-9868-171B80866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EFB30-A096-16AE-5190-5162C0EC1FC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3A802B8-A360-7D9B-8F3D-E4D3F482E60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lumMod val="50000"/>
                  </a:schemeClr>
                </a:solidFill>
                <a:effectLst/>
                <a:latin typeface="+mn-lt"/>
                <a:ea typeface="+mn-ea"/>
                <a:cs typeface="+mn-cs"/>
              </a:rPr>
              <a:t>Delving into education, the data consistently shows that more educated populations report greater happiness. Education fosters employment opportunities, health literacy, and engagement in civic processes—all contributors to a sense of purpose and personal fulfillment. Education also correlates with increased social capital, building strong communities and networks that support mental and emotional well-being. Thus, education emerges not just as an economic tool but a fundamental pillar of national happiness. Countries that focus on lifelong learning, not just basic schooling, often see long-lasting happiness improvements.</a:t>
            </a:r>
            <a:endParaRPr lang="en-US" baseline="0" dirty="0"/>
          </a:p>
        </p:txBody>
      </p:sp>
      <p:sp>
        <p:nvSpPr>
          <p:cNvPr id="4" name="Slide Number Placeholder 3">
            <a:extLst>
              <a:ext uri="{FF2B5EF4-FFF2-40B4-BE49-F238E27FC236}">
                <a16:creationId xmlns:a16="http://schemas.microsoft.com/office/drawing/2014/main" id="{5E7A6089-6E54-C500-0667-471DC125A3AF}"/>
              </a:ext>
            </a:extLst>
          </p:cNvPr>
          <p:cNvSpPr>
            <a:spLocks noGrp="1"/>
          </p:cNvSpPr>
          <p:nvPr>
            <p:ph type="sldNum" sz="quarter" idx="10"/>
          </p:nvPr>
        </p:nvSpPr>
        <p:spPr/>
        <p:txBody>
          <a:bodyPr/>
          <a:lstStyle/>
          <a:p>
            <a:fld id="{3A2CC701-D80A-463B-8415-A85485312088}" type="slidenum">
              <a:rPr lang="en-US" smtClean="0"/>
              <a:t>9</a:t>
            </a:fld>
            <a:endParaRPr lang="en-US"/>
          </a:p>
        </p:txBody>
      </p:sp>
    </p:spTree>
    <p:extLst>
      <p:ext uri="{BB962C8B-B14F-4D97-AF65-F5344CB8AC3E}">
        <p14:creationId xmlns:p14="http://schemas.microsoft.com/office/powerpoint/2010/main" val="1998548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A correlation heatmap quantifies these relationships, ranking GDP highest in influence, followed closely by health and education indicators. Their combined explanatory power confirms their importance in shaping happiness across nations. These findings support theories arguing for holistic development approaches incorporating economic, health, and educational policies. Bringing all these factors together in one visual lets us see clearly which indicators matter most for driving well-being.</a:t>
            </a:r>
            <a:br>
              <a:rPr lang="en-US" dirty="0"/>
            </a:b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10</a:t>
            </a:fld>
            <a:endParaRPr lang="en-US"/>
          </a:p>
        </p:txBody>
      </p:sp>
    </p:spTree>
    <p:extLst>
      <p:ext uri="{BB962C8B-B14F-4D97-AF65-F5344CB8AC3E}">
        <p14:creationId xmlns:p14="http://schemas.microsoft.com/office/powerpoint/2010/main" val="1649859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Comparing the top five happiest and bottom five least happy countries reveals stark contrasts beyond GDP. For this part of the analysis, I grouped the five countries with the highest happiness scores and the five with the lowest, then calculated the average value for each group in each metric. I also normalized the data—scaling each metric to a common range—this allows for a standardized and objective comparison. The chart you see shows these group averages side by side, rather than individual countries. Less happy countries suffer from lower health and education investment levels, coupled with economic challenges—painting a multidimensional picture of barriers to happiness. In contrast, the happiest nations exhibit balanced performance across economic and social welfare measures, reinforcing the importance of comprehensive investment policies. It’s clear that raising well-being is rarely about one reform—it takes combined improvements in multiple areas to see real impact.</a:t>
            </a:r>
            <a:br>
              <a:rPr lang="en-US" dirty="0"/>
            </a:b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11</a:t>
            </a:fld>
            <a:endParaRPr lang="en-US"/>
          </a:p>
        </p:txBody>
      </p:sp>
    </p:spTree>
    <p:extLst>
      <p:ext uri="{BB962C8B-B14F-4D97-AF65-F5344CB8AC3E}">
        <p14:creationId xmlns:p14="http://schemas.microsoft.com/office/powerpoint/2010/main" val="3222180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2ABB5-2715-0819-935D-7D692DFB1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658F2-AC49-9067-9938-544E03A85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5C1D65-2F32-55CA-A5F2-0DB4C56E7712}"/>
              </a:ext>
            </a:extLst>
          </p:cNvPr>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This radar chart captures these themes visually. Top-performing countries dominate across GDP, health, and education axes, while the lowest-ranking ones fall short.</a:t>
            </a:r>
            <a:br>
              <a:rPr lang="en-US" dirty="0"/>
            </a:br>
            <a:r>
              <a:rPr lang="en-US" sz="1200" b="0" i="0" kern="1200" dirty="0">
                <a:solidFill>
                  <a:schemeClr val="tx1">
                    <a:lumMod val="50000"/>
                  </a:schemeClr>
                </a:solidFill>
                <a:effectLst/>
                <a:latin typeface="+mn-lt"/>
                <a:ea typeface="+mn-ea"/>
                <a:cs typeface="+mn-cs"/>
              </a:rPr>
              <a:t>This visualization underscores that no single factor suffices; sustained happiness relies on a network of economic and institutional strengths. Differences in the shapes of a radar chart can reveal where countries would benefit most from new policy or investment.</a:t>
            </a:r>
            <a:br>
              <a:rPr lang="en-US" dirty="0"/>
            </a:br>
            <a:endParaRPr lang="en-US" dirty="0"/>
          </a:p>
        </p:txBody>
      </p:sp>
      <p:sp>
        <p:nvSpPr>
          <p:cNvPr id="4" name="Slide Number Placeholder 3">
            <a:extLst>
              <a:ext uri="{FF2B5EF4-FFF2-40B4-BE49-F238E27FC236}">
                <a16:creationId xmlns:a16="http://schemas.microsoft.com/office/drawing/2014/main" id="{F5C4B2FF-65AB-2D69-E993-9144E34F710F}"/>
              </a:ext>
            </a:extLst>
          </p:cNvPr>
          <p:cNvSpPr>
            <a:spLocks noGrp="1"/>
          </p:cNvSpPr>
          <p:nvPr>
            <p:ph type="sldNum" sz="quarter" idx="5"/>
          </p:nvPr>
        </p:nvSpPr>
        <p:spPr/>
        <p:txBody>
          <a:bodyPr/>
          <a:lstStyle/>
          <a:p>
            <a:fld id="{69C971FF-EF28-4195-A575-329446EFAA55}" type="slidenum">
              <a:rPr lang="en-US" smtClean="0"/>
              <a:t>12</a:t>
            </a:fld>
            <a:endParaRPr lang="en-US"/>
          </a:p>
        </p:txBody>
      </p:sp>
    </p:spTree>
    <p:extLst>
      <p:ext uri="{BB962C8B-B14F-4D97-AF65-F5344CB8AC3E}">
        <p14:creationId xmlns:p14="http://schemas.microsoft.com/office/powerpoint/2010/main" val="42877049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lumMod val="50000"/>
                  </a:schemeClr>
                </a:solidFill>
                <a:effectLst/>
                <a:latin typeface="+mn-lt"/>
                <a:ea typeface="+mn-ea"/>
                <a:cs typeface="+mn-cs"/>
              </a:rPr>
              <a:t>To explore practical implications, I developed a regression model simulating outcomes if a lower-happiness country raised its health and education metrics to global mid-levels. For </a:t>
            </a:r>
            <a:r>
              <a:rPr lang="en-US" sz="1200" b="0" i="0" kern="1200">
                <a:solidFill>
                  <a:schemeClr val="tx1">
                    <a:lumMod val="50000"/>
                  </a:schemeClr>
                </a:solidFill>
                <a:effectLst/>
                <a:latin typeface="+mn-lt"/>
                <a:ea typeface="+mn-ea"/>
                <a:cs typeface="+mn-cs"/>
              </a:rPr>
              <a:t>the model, I </a:t>
            </a:r>
            <a:r>
              <a:rPr lang="en-US" sz="1200" b="0" i="0" kern="1200" dirty="0">
                <a:solidFill>
                  <a:schemeClr val="tx1">
                    <a:lumMod val="50000"/>
                  </a:schemeClr>
                </a:solidFill>
                <a:effectLst/>
                <a:latin typeface="+mn-lt"/>
                <a:ea typeface="+mn-ea"/>
                <a:cs typeface="+mn-cs"/>
              </a:rPr>
              <a:t>chose Afghanistan because they consistently rank at the bottom. Predicted increases in happiness scores suggest that targeted social investments can yield substantial well-being improvements, providing a quantitative basis for policy prioritization. This ‘what if’ analysis is a useful tool for governments to forecast the impact of social policies before making big investments.</a:t>
            </a:r>
            <a:endParaRPr lang="en-US" dirty="0"/>
          </a:p>
        </p:txBody>
      </p:sp>
      <p:sp>
        <p:nvSpPr>
          <p:cNvPr id="4" name="Slide Number Placeholder 3"/>
          <p:cNvSpPr>
            <a:spLocks noGrp="1"/>
          </p:cNvSpPr>
          <p:nvPr>
            <p:ph type="sldNum" sz="quarter" idx="5"/>
          </p:nvPr>
        </p:nvSpPr>
        <p:spPr/>
        <p:txBody>
          <a:bodyPr/>
          <a:lstStyle/>
          <a:p>
            <a:fld id="{69C971FF-EF28-4195-A575-329446EFAA55}" type="slidenum">
              <a:rPr lang="en-US" smtClean="0"/>
              <a:t>13</a:t>
            </a:fld>
            <a:endParaRPr lang="en-US"/>
          </a:p>
        </p:txBody>
      </p:sp>
    </p:spTree>
    <p:extLst>
      <p:ext uri="{BB962C8B-B14F-4D97-AF65-F5344CB8AC3E}">
        <p14:creationId xmlns:p14="http://schemas.microsoft.com/office/powerpoint/2010/main" val="3022206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lumMod val="50000"/>
                  </a:schemeClr>
                </a:solidFill>
                <a:effectLst/>
                <a:latin typeface="+mn-lt"/>
                <a:ea typeface="+mn-ea"/>
                <a:cs typeface="+mn-cs"/>
              </a:rPr>
              <a:t>In closing, while GDP is pivotal for satisfying fundamental needs, our analysis emphasizes that lasting happiness hinges on quality health and </a:t>
            </a:r>
            <a:r>
              <a:rPr lang="en-US" sz="1200" b="0" i="0" kern="1200">
                <a:solidFill>
                  <a:schemeClr val="tx1">
                    <a:lumMod val="50000"/>
                  </a:schemeClr>
                </a:solidFill>
                <a:effectLst/>
                <a:latin typeface="+mn-lt"/>
                <a:ea typeface="+mn-ea"/>
                <a:cs typeface="+mn-cs"/>
              </a:rPr>
              <a:t>education services, </a:t>
            </a:r>
            <a:r>
              <a:rPr lang="en-US" sz="1200" b="0" i="0" kern="1200" dirty="0">
                <a:solidFill>
                  <a:schemeClr val="tx1">
                    <a:lumMod val="50000"/>
                  </a:schemeClr>
                </a:solidFill>
                <a:effectLst/>
                <a:latin typeface="+mn-lt"/>
                <a:ea typeface="+mn-ea"/>
                <a:cs typeface="+mn-cs"/>
              </a:rPr>
              <a:t>and inclusive social policies. Successful nations balance prosperity with human capital development, fostering environments where citizens thrive emotionally, physically, and socially. Recognizing this multidimensionality is essential for anyone interested in crafting policies to improve well-being. In the end, societies that invest in all people—not just profits—lay the groundwork for the happiest and healthiest futures.</a:t>
            </a:r>
            <a:endParaRPr lang="en-US" dirty="0"/>
          </a:p>
        </p:txBody>
      </p:sp>
      <p:sp>
        <p:nvSpPr>
          <p:cNvPr id="4" name="Slide Number Placeholder 3"/>
          <p:cNvSpPr>
            <a:spLocks noGrp="1"/>
          </p:cNvSpPr>
          <p:nvPr>
            <p:ph type="sldNum" sz="quarter" idx="10"/>
          </p:nvPr>
        </p:nvSpPr>
        <p:spPr/>
        <p:txBody>
          <a:bodyPr/>
          <a:lstStyle/>
          <a:p>
            <a:fld id="{3A2CC701-D80A-463B-8415-A85485312088}" type="slidenum">
              <a:rPr lang="en-US" smtClean="0"/>
              <a:t>14</a:t>
            </a:fld>
            <a:endParaRPr lang="en-US"/>
          </a:p>
        </p:txBody>
      </p:sp>
    </p:spTree>
    <p:extLst>
      <p:ext uri="{BB962C8B-B14F-4D97-AF65-F5344CB8AC3E}">
        <p14:creationId xmlns:p14="http://schemas.microsoft.com/office/powerpoint/2010/main" val="1699989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2ADA0-0A38-2E76-607F-F1F71EECD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E6D70-7D2F-B0E8-7536-5E80C8B614E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38097FD-70BD-E261-4F47-1C7BD951ADB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44F5443-D238-D885-4E13-5B3FB599A6B3}"/>
              </a:ext>
            </a:extLst>
          </p:cNvPr>
          <p:cNvSpPr>
            <a:spLocks noGrp="1"/>
          </p:cNvSpPr>
          <p:nvPr>
            <p:ph type="sldNum" sz="quarter" idx="10"/>
          </p:nvPr>
        </p:nvSpPr>
        <p:spPr/>
        <p:txBody>
          <a:bodyPr/>
          <a:lstStyle/>
          <a:p>
            <a:fld id="{3A2CC701-D80A-463B-8415-A85485312088}" type="slidenum">
              <a:rPr lang="en-US" smtClean="0"/>
              <a:t>15</a:t>
            </a:fld>
            <a:endParaRPr lang="en-US"/>
          </a:p>
        </p:txBody>
      </p:sp>
    </p:spTree>
    <p:extLst>
      <p:ext uri="{BB962C8B-B14F-4D97-AF65-F5344CB8AC3E}">
        <p14:creationId xmlns:p14="http://schemas.microsoft.com/office/powerpoint/2010/main" val="1449434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descr="Map of World"/>
          <p:cNvSpPr>
            <a:spLocks noEditPoints="1"/>
          </p:cNvSpPr>
          <p:nvPr/>
        </p:nvSpPr>
        <p:spPr bwMode="gray">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2524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EDF33987-6305-4E2A-BF18-EF013ECE927B}" type="datetimeFigureOut">
              <a:rPr lang="en-US"/>
              <a:t>11/17/2025</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79464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EDF33987-6305-4E2A-BF18-EF013ECE927B}" type="datetimeFigureOut">
              <a:rPr lang="en-US"/>
              <a:t>11/17/2025</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945692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EDF33987-6305-4E2A-BF18-EF013ECE927B}" type="datetimeFigureOut">
              <a:rPr lang="en-US"/>
              <a:t>11/17/2025</a:t>
            </a:fld>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79778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7" name="Date Placeholder 6"/>
          <p:cNvSpPr>
            <a:spLocks noGrp="1"/>
          </p:cNvSpPr>
          <p:nvPr>
            <p:ph type="dt" sz="half" idx="10"/>
          </p:nvPr>
        </p:nvSpPr>
        <p:spPr/>
        <p:txBody>
          <a:bodyPr/>
          <a:lstStyle/>
          <a:p>
            <a:fld id="{EDF33987-6305-4E2A-BF18-EF013ECE927B}" type="datetimeFigureOut">
              <a:rPr lang="en-US"/>
              <a:t>11/17/2025</a:t>
            </a:fld>
            <a:endParaRPr/>
          </a:p>
        </p:txBody>
      </p:sp>
      <p:sp>
        <p:nvSpPr>
          <p:cNvPr id="9" name="Slide Number Placeholder 8"/>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86244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3" name="Date Placeholder 2"/>
          <p:cNvSpPr>
            <a:spLocks noGrp="1"/>
          </p:cNvSpPr>
          <p:nvPr>
            <p:ph type="dt" sz="half" idx="10"/>
          </p:nvPr>
        </p:nvSpPr>
        <p:spPr/>
        <p:txBody>
          <a:bodyPr/>
          <a:lstStyle/>
          <a:p>
            <a:fld id="{EDF33987-6305-4E2A-BF18-EF013ECE927B}" type="datetimeFigureOut">
              <a:rPr lang="en-US"/>
              <a:t>11/17/2025</a:t>
            </a:fld>
            <a:endParaRPr/>
          </a:p>
        </p:txBody>
      </p:sp>
      <p:sp>
        <p:nvSpPr>
          <p:cNvPr id="5" name="Slide Number Placeholder 4"/>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133622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endParaRPr dirty="0"/>
          </a:p>
        </p:txBody>
      </p:sp>
      <p:sp>
        <p:nvSpPr>
          <p:cNvPr id="2" name="Date Placeholder 1"/>
          <p:cNvSpPr>
            <a:spLocks noGrp="1"/>
          </p:cNvSpPr>
          <p:nvPr>
            <p:ph type="dt" sz="half" idx="10"/>
          </p:nvPr>
        </p:nvSpPr>
        <p:spPr/>
        <p:txBody>
          <a:bodyPr/>
          <a:lstStyle/>
          <a:p>
            <a:fld id="{EDF33987-6305-4E2A-BF18-EF013ECE927B}" type="datetimeFigureOut">
              <a:rPr lang="en-US"/>
              <a:t>11/17/2025</a:t>
            </a:fld>
            <a:endParaRPr/>
          </a:p>
        </p:txBody>
      </p:sp>
      <p:sp>
        <p:nvSpPr>
          <p:cNvPr id="4" name="Slide Number Placeholder 3"/>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55341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EDF33987-6305-4E2A-BF18-EF013ECE927B}" type="datetimeFigureOut">
              <a:rPr lang="en-US"/>
              <a:t>11/17/2025</a:t>
            </a:fld>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65848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EDF33987-6305-4E2A-BF18-EF013ECE927B}" type="datetimeFigureOut">
              <a:rPr lang="en-US"/>
              <a:t>11/17/2025</a:t>
            </a:fld>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3192438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EDF33987-6305-4E2A-BF18-EF013ECE927B}" type="datetimeFigureOut">
              <a:rPr lang="en-US"/>
              <a:t>11/17/2025</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94485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EDF33987-6305-4E2A-BF18-EF013ECE927B}" type="datetimeFigureOut">
              <a:rPr lang="en-US"/>
              <a:t>11/17/2025</a:t>
            </a:fld>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829424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8000">
              <a:schemeClr val="bg1"/>
            </a:gs>
            <a:gs pos="28000">
              <a:schemeClr val="bg1"/>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dirty="0"/>
              <a:t>Add a footer</a:t>
            </a:r>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11/17/2025</a:t>
            </a:fld>
            <a:endParaRPr lang="en-US"/>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89633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tx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8pPr>
      <a:lvl9pPr marL="21031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7613" y="1143000"/>
            <a:ext cx="9753600" cy="1447801"/>
          </a:xfrm>
        </p:spPr>
        <p:txBody>
          <a:bodyPr>
            <a:normAutofit/>
          </a:bodyPr>
          <a:lstStyle/>
          <a:p>
            <a:pPr algn="ctr"/>
            <a:r>
              <a:rPr lang="en-US" dirty="0"/>
              <a:t>The pursuit of happiness: what makes nations thrive?</a:t>
            </a:r>
          </a:p>
        </p:txBody>
      </p:sp>
      <p:sp>
        <p:nvSpPr>
          <p:cNvPr id="3" name="Subtitle 2"/>
          <p:cNvSpPr>
            <a:spLocks noGrp="1"/>
          </p:cNvSpPr>
          <p:nvPr>
            <p:ph type="subTitle" idx="1"/>
          </p:nvPr>
        </p:nvSpPr>
        <p:spPr>
          <a:xfrm>
            <a:off x="2170112" y="3423138"/>
            <a:ext cx="7848600" cy="1143000"/>
          </a:xfrm>
        </p:spPr>
        <p:txBody>
          <a:bodyPr>
            <a:normAutofit/>
          </a:bodyPr>
          <a:lstStyle/>
          <a:p>
            <a:pPr algn="ctr"/>
            <a:r>
              <a:rPr lang="en-US" sz="2800" dirty="0"/>
              <a:t>Exploring the Impact of Wealth, Health and Education</a:t>
            </a:r>
          </a:p>
        </p:txBody>
      </p:sp>
    </p:spTree>
    <p:extLst>
      <p:ext uri="{BB962C8B-B14F-4D97-AF65-F5344CB8AC3E}">
        <p14:creationId xmlns:p14="http://schemas.microsoft.com/office/powerpoint/2010/main" val="402501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2" y="762000"/>
            <a:ext cx="9753600" cy="1858962"/>
          </a:xfrm>
        </p:spPr>
        <p:txBody>
          <a:bodyPr>
            <a:normAutofit/>
          </a:bodyPr>
          <a:lstStyle/>
          <a:p>
            <a:pPr algn="ctr"/>
            <a:r>
              <a:rPr lang="en-US" dirty="0"/>
              <a:t>What are the key drivers of national happiness and how do they differ across countries?</a:t>
            </a:r>
          </a:p>
        </p:txBody>
      </p:sp>
      <p:sp>
        <p:nvSpPr>
          <p:cNvPr id="3" name="Content Placeholder 2"/>
          <p:cNvSpPr>
            <a:spLocks noGrp="1"/>
          </p:cNvSpPr>
          <p:nvPr>
            <p:ph idx="1"/>
          </p:nvPr>
        </p:nvSpPr>
        <p:spPr>
          <a:xfrm>
            <a:off x="1217612" y="3124200"/>
            <a:ext cx="9753600" cy="2971800"/>
          </a:xfrm>
        </p:spPr>
        <p:txBody>
          <a:bodyPr/>
          <a:lstStyle/>
          <a:p>
            <a:r>
              <a:rPr lang="en-US" dirty="0"/>
              <a:t>How does wealth relate to happiness?</a:t>
            </a:r>
          </a:p>
          <a:p>
            <a:r>
              <a:rPr lang="en-US" dirty="0"/>
              <a:t>At what point does money stop making people happier?</a:t>
            </a:r>
          </a:p>
          <a:p>
            <a:r>
              <a:rPr lang="en-US" dirty="0"/>
              <a:t>How do health and education influence happiness?</a:t>
            </a:r>
          </a:p>
          <a:p>
            <a:r>
              <a:rPr lang="en-US" dirty="0"/>
              <a:t>What would happen if a low-happiness country improved in those areas?</a:t>
            </a:r>
          </a:p>
        </p:txBody>
      </p:sp>
    </p:spTree>
    <p:extLst>
      <p:ext uri="{BB962C8B-B14F-4D97-AF65-F5344CB8AC3E}">
        <p14:creationId xmlns:p14="http://schemas.microsoft.com/office/powerpoint/2010/main" val="2936978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533400"/>
            <a:ext cx="9753600" cy="762000"/>
          </a:xfrm>
        </p:spPr>
        <p:txBody>
          <a:bodyPr/>
          <a:lstStyle/>
          <a:p>
            <a:pPr algn="ctr"/>
            <a:r>
              <a:rPr lang="en-US" dirty="0"/>
              <a:t>Happiness around the world 2024</a:t>
            </a:r>
          </a:p>
        </p:txBody>
      </p:sp>
      <p:pic>
        <p:nvPicPr>
          <p:cNvPr id="6" name="Content Placeholder 5">
            <a:extLst>
              <a:ext uri="{FF2B5EF4-FFF2-40B4-BE49-F238E27FC236}">
                <a16:creationId xmlns:a16="http://schemas.microsoft.com/office/drawing/2014/main" id="{EB593904-AE86-325F-74A5-D53E3A14042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408113" y="1447800"/>
            <a:ext cx="9372598" cy="4724400"/>
          </a:xfrm>
        </p:spPr>
      </p:pic>
    </p:spTree>
    <p:extLst>
      <p:ext uri="{BB962C8B-B14F-4D97-AF65-F5344CB8AC3E}">
        <p14:creationId xmlns:p14="http://schemas.microsoft.com/office/powerpoint/2010/main" val="1493599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D07AD-3A3A-C73E-0773-978C539E850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5BCAF7FD-5627-4A37-008B-053760C40EC2}"/>
              </a:ext>
            </a:extLst>
          </p:cNvPr>
          <p:cNvSpPr>
            <a:spLocks noGrp="1"/>
          </p:cNvSpPr>
          <p:nvPr>
            <p:ph type="title"/>
          </p:nvPr>
        </p:nvSpPr>
        <p:spPr>
          <a:xfrm>
            <a:off x="1216026" y="381000"/>
            <a:ext cx="9753600" cy="1219200"/>
          </a:xfrm>
        </p:spPr>
        <p:txBody>
          <a:bodyPr>
            <a:normAutofit/>
          </a:bodyPr>
          <a:lstStyle/>
          <a:p>
            <a:pPr algn="ctr"/>
            <a:r>
              <a:rPr lang="en-US" dirty="0"/>
              <a:t>Regional differences in happiness: a snapshot</a:t>
            </a:r>
          </a:p>
        </p:txBody>
      </p:sp>
      <p:pic>
        <p:nvPicPr>
          <p:cNvPr id="5" name="Picture 4">
            <a:extLst>
              <a:ext uri="{FF2B5EF4-FFF2-40B4-BE49-F238E27FC236}">
                <a16:creationId xmlns:a16="http://schemas.microsoft.com/office/drawing/2014/main" id="{3F5CBB28-B751-D3ED-0FDA-ADCF75735808}"/>
              </a:ext>
            </a:extLst>
          </p:cNvPr>
          <p:cNvPicPr>
            <a:picLocks noChangeAspect="1"/>
          </p:cNvPicPr>
          <p:nvPr/>
        </p:nvPicPr>
        <p:blipFill>
          <a:blip r:embed="rId3">
            <a:extLst>
              <a:ext uri="{28A0092B-C50C-407E-A947-70E740481C1C}">
                <a14:useLocalDpi xmlns:a14="http://schemas.microsoft.com/office/drawing/2010/main" val="0"/>
              </a:ext>
            </a:extLst>
          </a:blip>
          <a:srcRect l="1238" r="1238"/>
          <a:stretch/>
        </p:blipFill>
        <p:spPr>
          <a:xfrm>
            <a:off x="1214438" y="1752600"/>
            <a:ext cx="9753600" cy="4762500"/>
          </a:xfrm>
          <a:prstGeom prst="rect">
            <a:avLst/>
          </a:prstGeom>
          <a:noFill/>
        </p:spPr>
      </p:pic>
      <p:sp>
        <p:nvSpPr>
          <p:cNvPr id="2" name="Title 1" hidden="1">
            <a:extLst>
              <a:ext uri="{FF2B5EF4-FFF2-40B4-BE49-F238E27FC236}">
                <a16:creationId xmlns:a16="http://schemas.microsoft.com/office/drawing/2014/main" id="{F9847C94-CAC6-B738-A8AC-4248DD2EA538}"/>
              </a:ext>
            </a:extLst>
          </p:cNvPr>
          <p:cNvSpPr>
            <a:spLocks noGrp="1"/>
          </p:cNvSpPr>
          <p:nvPr>
            <p:ph type="title" idx="4294967295"/>
          </p:nvPr>
        </p:nvSpPr>
        <p:spPr/>
        <p:txBody>
          <a:bodyPr/>
          <a:lstStyle/>
          <a:p>
            <a:r>
              <a:rPr lang="en-US" dirty="0"/>
              <a:t>Blank slide</a:t>
            </a:r>
          </a:p>
        </p:txBody>
      </p:sp>
    </p:spTree>
    <p:extLst>
      <p:ext uri="{BB962C8B-B14F-4D97-AF65-F5344CB8AC3E}">
        <p14:creationId xmlns:p14="http://schemas.microsoft.com/office/powerpoint/2010/main" val="133027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3CD54-3B7B-B146-9E40-6CD56127D7A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B6977475-A020-51D1-9F86-936466257897}"/>
              </a:ext>
            </a:extLst>
          </p:cNvPr>
          <p:cNvSpPr>
            <a:spLocks noGrp="1"/>
          </p:cNvSpPr>
          <p:nvPr>
            <p:ph type="title"/>
          </p:nvPr>
        </p:nvSpPr>
        <p:spPr>
          <a:xfrm>
            <a:off x="1217612" y="552450"/>
            <a:ext cx="9753600" cy="1123950"/>
          </a:xfrm>
        </p:spPr>
        <p:txBody>
          <a:bodyPr>
            <a:normAutofit fontScale="90000"/>
          </a:bodyPr>
          <a:lstStyle/>
          <a:p>
            <a:pPr algn="ctr"/>
            <a:r>
              <a:rPr lang="en-US" dirty="0"/>
              <a:t>How Regional happiness has changed over the years</a:t>
            </a:r>
          </a:p>
        </p:txBody>
      </p:sp>
      <p:pic>
        <p:nvPicPr>
          <p:cNvPr id="5" name="Picture 4">
            <a:extLst>
              <a:ext uri="{FF2B5EF4-FFF2-40B4-BE49-F238E27FC236}">
                <a16:creationId xmlns:a16="http://schemas.microsoft.com/office/drawing/2014/main" id="{FA15FD47-C5F7-22FF-4B28-A6F28E0E352B}"/>
              </a:ext>
            </a:extLst>
          </p:cNvPr>
          <p:cNvPicPr>
            <a:picLocks noChangeAspect="1"/>
          </p:cNvPicPr>
          <p:nvPr/>
        </p:nvPicPr>
        <p:blipFill>
          <a:blip r:embed="rId3">
            <a:extLst>
              <a:ext uri="{28A0092B-C50C-407E-A947-70E740481C1C}">
                <a14:useLocalDpi xmlns:a14="http://schemas.microsoft.com/office/drawing/2010/main" val="0"/>
              </a:ext>
            </a:extLst>
          </a:blip>
          <a:srcRect l="-125" r="-822"/>
          <a:stretch>
            <a:fillRect/>
          </a:stretch>
        </p:blipFill>
        <p:spPr>
          <a:xfrm>
            <a:off x="608012" y="1962150"/>
            <a:ext cx="11049000" cy="4343400"/>
          </a:xfrm>
          <a:prstGeom prst="rect">
            <a:avLst/>
          </a:prstGeom>
          <a:noFill/>
        </p:spPr>
      </p:pic>
      <p:sp>
        <p:nvSpPr>
          <p:cNvPr id="2" name="Title 1" hidden="1">
            <a:extLst>
              <a:ext uri="{FF2B5EF4-FFF2-40B4-BE49-F238E27FC236}">
                <a16:creationId xmlns:a16="http://schemas.microsoft.com/office/drawing/2014/main" id="{8D97057B-9F0E-92C0-3701-C42B8A62E111}"/>
              </a:ext>
            </a:extLst>
          </p:cNvPr>
          <p:cNvSpPr>
            <a:spLocks noGrp="1"/>
          </p:cNvSpPr>
          <p:nvPr>
            <p:ph type="title" idx="4294967295"/>
          </p:nvPr>
        </p:nvSpPr>
        <p:spPr/>
        <p:txBody>
          <a:bodyPr/>
          <a:lstStyle/>
          <a:p>
            <a:r>
              <a:rPr lang="en-US" dirty="0"/>
              <a:t>Blank slide</a:t>
            </a:r>
          </a:p>
        </p:txBody>
      </p:sp>
    </p:spTree>
    <p:extLst>
      <p:ext uri="{BB962C8B-B14F-4D97-AF65-F5344CB8AC3E}">
        <p14:creationId xmlns:p14="http://schemas.microsoft.com/office/powerpoint/2010/main" val="249216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27111" y="312738"/>
            <a:ext cx="10134602" cy="868362"/>
          </a:xfrm>
        </p:spPr>
        <p:txBody>
          <a:bodyPr>
            <a:normAutofit/>
          </a:bodyPr>
          <a:lstStyle/>
          <a:p>
            <a:pPr algn="ctr"/>
            <a:r>
              <a:rPr lang="en-US" dirty="0"/>
              <a:t>Does more money make us happier?</a:t>
            </a:r>
          </a:p>
        </p:txBody>
      </p:sp>
      <p:pic>
        <p:nvPicPr>
          <p:cNvPr id="3" name="Picture 2">
            <a:extLst>
              <a:ext uri="{FF2B5EF4-FFF2-40B4-BE49-F238E27FC236}">
                <a16:creationId xmlns:a16="http://schemas.microsoft.com/office/drawing/2014/main" id="{A0C3CFA6-CFC2-1C91-F439-29155B725FD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61458" y="1447800"/>
            <a:ext cx="8495437" cy="5135562"/>
          </a:xfrm>
          <a:prstGeom prst="rect">
            <a:avLst/>
          </a:prstGeom>
        </p:spPr>
      </p:pic>
    </p:spTree>
    <p:extLst>
      <p:ext uri="{BB962C8B-B14F-4D97-AF65-F5344CB8AC3E}">
        <p14:creationId xmlns:p14="http://schemas.microsoft.com/office/powerpoint/2010/main" val="502801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2" y="381000"/>
            <a:ext cx="9753600" cy="685800"/>
          </a:xfrm>
        </p:spPr>
        <p:txBody>
          <a:bodyPr/>
          <a:lstStyle/>
          <a:p>
            <a:pPr algn="ctr"/>
            <a:r>
              <a:rPr lang="en-US" dirty="0"/>
              <a:t>The point of diminishing returns</a:t>
            </a:r>
          </a:p>
        </p:txBody>
      </p:sp>
      <p:sp>
        <p:nvSpPr>
          <p:cNvPr id="3" name="Content Placeholder 2"/>
          <p:cNvSpPr>
            <a:spLocks noGrp="1"/>
          </p:cNvSpPr>
          <p:nvPr>
            <p:ph sz="half" idx="1"/>
          </p:nvPr>
        </p:nvSpPr>
        <p:spPr>
          <a:xfrm>
            <a:off x="500759" y="1828799"/>
            <a:ext cx="3810000" cy="4343400"/>
          </a:xfrm>
        </p:spPr>
        <p:txBody>
          <a:bodyPr/>
          <a:lstStyle/>
          <a:p>
            <a:r>
              <a:rPr lang="en-US" dirty="0"/>
              <a:t>Happiness increases quickly from very low to medium GDP levels</a:t>
            </a:r>
          </a:p>
          <a:p>
            <a:r>
              <a:rPr lang="en-US" dirty="0"/>
              <a:t>Beyond ‘High GDP’, the happiness curve flattens</a:t>
            </a:r>
          </a:p>
          <a:p>
            <a:r>
              <a:rPr lang="en-US" dirty="0"/>
              <a:t>Suggests that after basic comfort, wealth adds less to happiness</a:t>
            </a:r>
          </a:p>
        </p:txBody>
      </p:sp>
      <p:pic>
        <p:nvPicPr>
          <p:cNvPr id="8" name="Content Placeholder 7">
            <a:extLst>
              <a:ext uri="{FF2B5EF4-FFF2-40B4-BE49-F238E27FC236}">
                <a16:creationId xmlns:a16="http://schemas.microsoft.com/office/drawing/2014/main" id="{FAD518F2-66F2-BE8E-81DE-B1C06E0022C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4310759" y="1371600"/>
            <a:ext cx="7571678" cy="4953001"/>
          </a:xfrm>
        </p:spPr>
      </p:pic>
    </p:spTree>
    <p:extLst>
      <p:ext uri="{BB962C8B-B14F-4D97-AF65-F5344CB8AC3E}">
        <p14:creationId xmlns:p14="http://schemas.microsoft.com/office/powerpoint/2010/main" val="1417836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7614" y="274638"/>
            <a:ext cx="9753600" cy="792162"/>
          </a:xfrm>
        </p:spPr>
        <p:txBody>
          <a:bodyPr anchor="b">
            <a:normAutofit/>
          </a:bodyPr>
          <a:lstStyle/>
          <a:p>
            <a:pPr algn="ctr"/>
            <a:r>
              <a:rPr lang="en-US" dirty="0"/>
              <a:t>Health investment and well-being</a:t>
            </a:r>
          </a:p>
        </p:txBody>
      </p:sp>
      <p:pic>
        <p:nvPicPr>
          <p:cNvPr id="9" name="Content Placeholder 8">
            <a:extLst>
              <a:ext uri="{FF2B5EF4-FFF2-40B4-BE49-F238E27FC236}">
                <a16:creationId xmlns:a16="http://schemas.microsoft.com/office/drawing/2014/main" id="{1559AE30-723D-5787-8350-29C909CE4F1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370012" y="1295400"/>
            <a:ext cx="9361584" cy="5287962"/>
          </a:xfrm>
        </p:spPr>
      </p:pic>
    </p:spTree>
    <p:extLst>
      <p:ext uri="{BB962C8B-B14F-4D97-AF65-F5344CB8AC3E}">
        <p14:creationId xmlns:p14="http://schemas.microsoft.com/office/powerpoint/2010/main" val="3536972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3E909-36C7-694C-D5A4-F388AD2D4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6E984-1A60-58C4-BF35-72C72B8ACC8B}"/>
              </a:ext>
            </a:extLst>
          </p:cNvPr>
          <p:cNvSpPr>
            <a:spLocks noGrp="1"/>
          </p:cNvSpPr>
          <p:nvPr>
            <p:ph type="title"/>
          </p:nvPr>
        </p:nvSpPr>
        <p:spPr>
          <a:xfrm>
            <a:off x="1217614" y="274638"/>
            <a:ext cx="9753600" cy="792162"/>
          </a:xfrm>
        </p:spPr>
        <p:txBody>
          <a:bodyPr anchor="b">
            <a:normAutofit/>
          </a:bodyPr>
          <a:lstStyle/>
          <a:p>
            <a:pPr algn="ctr"/>
            <a:r>
              <a:rPr lang="en-US" dirty="0"/>
              <a:t>Education and opportunity</a:t>
            </a:r>
          </a:p>
        </p:txBody>
      </p:sp>
      <p:pic>
        <p:nvPicPr>
          <p:cNvPr id="7" name="Content Placeholder 6">
            <a:extLst>
              <a:ext uri="{FF2B5EF4-FFF2-40B4-BE49-F238E27FC236}">
                <a16:creationId xmlns:a16="http://schemas.microsoft.com/office/drawing/2014/main" id="{D5A054BB-AE23-349C-FB41-CD245E8F277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217614" y="1162363"/>
            <a:ext cx="9220198" cy="5420999"/>
          </a:xfrm>
        </p:spPr>
      </p:pic>
    </p:spTree>
    <p:extLst>
      <p:ext uri="{BB962C8B-B14F-4D97-AF65-F5344CB8AC3E}">
        <p14:creationId xmlns:p14="http://schemas.microsoft.com/office/powerpoint/2010/main" val="1719947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5611" y="540971"/>
            <a:ext cx="4114801" cy="1821230"/>
          </a:xfrm>
        </p:spPr>
        <p:txBody>
          <a:bodyPr/>
          <a:lstStyle/>
          <a:p>
            <a:pPr algn="ctr"/>
            <a:r>
              <a:rPr lang="en-US" dirty="0"/>
              <a:t>How strong are these relationships?</a:t>
            </a:r>
          </a:p>
        </p:txBody>
      </p:sp>
      <p:pic>
        <p:nvPicPr>
          <p:cNvPr id="3" name="Content Placeholder 2">
            <a:extLst>
              <a:ext uri="{FF2B5EF4-FFF2-40B4-BE49-F238E27FC236}">
                <a16:creationId xmlns:a16="http://schemas.microsoft.com/office/drawing/2014/main" id="{D4A6FC02-3B91-E7F9-07AF-B4817A99724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4570414" y="1066801"/>
            <a:ext cx="6934200" cy="5105400"/>
          </a:xfrm>
        </p:spPr>
      </p:pic>
      <p:sp>
        <p:nvSpPr>
          <p:cNvPr id="9" name="TextBox 8">
            <a:extLst>
              <a:ext uri="{FF2B5EF4-FFF2-40B4-BE49-F238E27FC236}">
                <a16:creationId xmlns:a16="http://schemas.microsoft.com/office/drawing/2014/main" id="{7CA2D6A0-43F8-7BAC-FDF8-CC09DD3695F7}"/>
              </a:ext>
            </a:extLst>
          </p:cNvPr>
          <p:cNvSpPr txBox="1"/>
          <p:nvPr/>
        </p:nvSpPr>
        <p:spPr>
          <a:xfrm>
            <a:off x="684211" y="2632246"/>
            <a:ext cx="3886200" cy="334610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Correlation matrix</a:t>
            </a:r>
          </a:p>
          <a:p>
            <a:pPr marL="342900" indent="-342900">
              <a:lnSpc>
                <a:spcPct val="150000"/>
              </a:lnSpc>
              <a:buFont typeface="Arial" panose="020B0604020202020204" pitchFamily="34" charset="0"/>
              <a:buChar char="•"/>
            </a:pPr>
            <a:r>
              <a:rPr lang="en-US" sz="2400" dirty="0"/>
              <a:t>GDP strongest but health and education close behind</a:t>
            </a:r>
          </a:p>
          <a:p>
            <a:pPr marL="342900" indent="-342900">
              <a:lnSpc>
                <a:spcPct val="150000"/>
              </a:lnSpc>
              <a:buFont typeface="Arial" panose="020B0604020202020204" pitchFamily="34" charset="0"/>
              <a:buChar char="•"/>
            </a:pPr>
            <a:r>
              <a:rPr lang="en-US" sz="2400" dirty="0"/>
              <a:t>All are positively related</a:t>
            </a:r>
          </a:p>
        </p:txBody>
      </p:sp>
    </p:spTree>
    <p:extLst>
      <p:ext uri="{BB962C8B-B14F-4D97-AF65-F5344CB8AC3E}">
        <p14:creationId xmlns:p14="http://schemas.microsoft.com/office/powerpoint/2010/main" val="4105790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C86AD93-6D90-8DAA-4314-AFE124B107E0}"/>
              </a:ext>
            </a:extLst>
          </p:cNvPr>
          <p:cNvSpPr>
            <a:spLocks noGrp="1"/>
          </p:cNvSpPr>
          <p:nvPr>
            <p:ph type="title"/>
          </p:nvPr>
        </p:nvSpPr>
        <p:spPr>
          <a:xfrm>
            <a:off x="836613" y="457200"/>
            <a:ext cx="10515598" cy="685800"/>
          </a:xfrm>
        </p:spPr>
        <p:txBody>
          <a:bodyPr>
            <a:normAutofit fontScale="90000"/>
          </a:bodyPr>
          <a:lstStyle/>
          <a:p>
            <a:pPr algn="ctr"/>
            <a:r>
              <a:rPr lang="en-US" dirty="0"/>
              <a:t>Top 5 vs bottom 5: what sets them apart?</a:t>
            </a:r>
          </a:p>
        </p:txBody>
      </p:sp>
      <p:pic>
        <p:nvPicPr>
          <p:cNvPr id="4" name="Picture 3">
            <a:extLst>
              <a:ext uri="{FF2B5EF4-FFF2-40B4-BE49-F238E27FC236}">
                <a16:creationId xmlns:a16="http://schemas.microsoft.com/office/drawing/2014/main" id="{D1D6B929-5CB5-61E6-BF45-53D4DD3F3D5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41512" y="1524000"/>
            <a:ext cx="8305800" cy="4876800"/>
          </a:xfrm>
          <a:prstGeom prst="rect">
            <a:avLst/>
          </a:prstGeom>
          <a:noFill/>
        </p:spPr>
      </p:pic>
      <p:sp>
        <p:nvSpPr>
          <p:cNvPr id="2" name="Title 1" hidden="1">
            <a:extLst>
              <a:ext uri="{FF2B5EF4-FFF2-40B4-BE49-F238E27FC236}">
                <a16:creationId xmlns:a16="http://schemas.microsoft.com/office/drawing/2014/main" id="{355D9332-DBF2-43E5-A952-B91EE55F9F13}"/>
              </a:ext>
            </a:extLst>
          </p:cNvPr>
          <p:cNvSpPr>
            <a:spLocks noGrp="1"/>
          </p:cNvSpPr>
          <p:nvPr>
            <p:ph type="title" idx="4294967295"/>
          </p:nvPr>
        </p:nvSpPr>
        <p:spPr/>
        <p:txBody>
          <a:bodyPr/>
          <a:lstStyle/>
          <a:p>
            <a:r>
              <a:rPr lang="en-US" dirty="0"/>
              <a:t>Blank slide</a:t>
            </a:r>
          </a:p>
        </p:txBody>
      </p:sp>
    </p:spTree>
    <p:extLst>
      <p:ext uri="{BB962C8B-B14F-4D97-AF65-F5344CB8AC3E}">
        <p14:creationId xmlns:p14="http://schemas.microsoft.com/office/powerpoint/2010/main" val="369133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7D953-C323-2BF2-B196-26C8D579856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6682010-4EFD-34F0-79C0-CFAC9213782A}"/>
              </a:ext>
            </a:extLst>
          </p:cNvPr>
          <p:cNvSpPr>
            <a:spLocks noGrp="1"/>
          </p:cNvSpPr>
          <p:nvPr>
            <p:ph type="title"/>
          </p:nvPr>
        </p:nvSpPr>
        <p:spPr>
          <a:xfrm>
            <a:off x="303213" y="401063"/>
            <a:ext cx="4267201" cy="2362200"/>
          </a:xfrm>
        </p:spPr>
        <p:txBody>
          <a:bodyPr/>
          <a:lstStyle/>
          <a:p>
            <a:pPr algn="ctr"/>
            <a:r>
              <a:rPr lang="en-US" dirty="0"/>
              <a:t>Balanced happiness: a comparison of key drivers</a:t>
            </a:r>
          </a:p>
        </p:txBody>
      </p:sp>
      <p:pic>
        <p:nvPicPr>
          <p:cNvPr id="3" name="Content Placeholder 2">
            <a:extLst>
              <a:ext uri="{FF2B5EF4-FFF2-40B4-BE49-F238E27FC236}">
                <a16:creationId xmlns:a16="http://schemas.microsoft.com/office/drawing/2014/main" id="{EA2A44AB-04A4-3DD0-620D-1A2C4CA92D0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4570414" y="685801"/>
            <a:ext cx="6934200" cy="5486400"/>
          </a:xfrm>
        </p:spPr>
      </p:pic>
      <p:sp>
        <p:nvSpPr>
          <p:cNvPr id="9" name="TextBox 8">
            <a:extLst>
              <a:ext uri="{FF2B5EF4-FFF2-40B4-BE49-F238E27FC236}">
                <a16:creationId xmlns:a16="http://schemas.microsoft.com/office/drawing/2014/main" id="{C5A585DF-9F85-3CE3-4899-BFA5E1A7FA12}"/>
              </a:ext>
            </a:extLst>
          </p:cNvPr>
          <p:cNvSpPr txBox="1"/>
          <p:nvPr/>
        </p:nvSpPr>
        <p:spPr>
          <a:xfrm>
            <a:off x="684211" y="2944238"/>
            <a:ext cx="3886200"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Happiest nations perform consistently well across all metrics</a:t>
            </a:r>
          </a:p>
          <a:p>
            <a:pPr marL="342900" indent="-342900">
              <a:buFont typeface="Arial" panose="020B0604020202020204" pitchFamily="34" charset="0"/>
              <a:buChar char="•"/>
            </a:pPr>
            <a:r>
              <a:rPr lang="en-US" sz="2400" dirty="0"/>
              <a:t>Least happy countries show weaknesses across all metrics</a:t>
            </a:r>
          </a:p>
          <a:p>
            <a:pPr marL="342900" indent="-342900">
              <a:buFont typeface="Arial" panose="020B0604020202020204" pitchFamily="34" charset="0"/>
              <a:buChar char="•"/>
            </a:pPr>
            <a:r>
              <a:rPr lang="en-US" sz="2400" dirty="0"/>
              <a:t>True happiness depends on balance</a:t>
            </a:r>
          </a:p>
        </p:txBody>
      </p:sp>
    </p:spTree>
    <p:extLst>
      <p:ext uri="{BB962C8B-B14F-4D97-AF65-F5344CB8AC3E}">
        <p14:creationId xmlns:p14="http://schemas.microsoft.com/office/powerpoint/2010/main" val="232262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2813" y="609600"/>
            <a:ext cx="3886200" cy="2286000"/>
          </a:xfrm>
        </p:spPr>
        <p:txBody>
          <a:bodyPr/>
          <a:lstStyle/>
          <a:p>
            <a:pPr algn="ctr"/>
            <a:r>
              <a:rPr lang="en-US" dirty="0"/>
              <a:t>What if -- improved health and education</a:t>
            </a:r>
          </a:p>
        </p:txBody>
      </p:sp>
      <p:pic>
        <p:nvPicPr>
          <p:cNvPr id="14" name="Picture 13">
            <a:extLst>
              <a:ext uri="{FF2B5EF4-FFF2-40B4-BE49-F238E27FC236}">
                <a16:creationId xmlns:a16="http://schemas.microsoft.com/office/drawing/2014/main" id="{60389E86-DD92-8A55-890A-D60A77EEAEB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28835" y="914400"/>
            <a:ext cx="6128868" cy="4919224"/>
          </a:xfrm>
          <a:prstGeom prst="rect">
            <a:avLst/>
          </a:prstGeom>
        </p:spPr>
      </p:pic>
      <p:sp>
        <p:nvSpPr>
          <p:cNvPr id="2" name="TextBox 1">
            <a:extLst>
              <a:ext uri="{FF2B5EF4-FFF2-40B4-BE49-F238E27FC236}">
                <a16:creationId xmlns:a16="http://schemas.microsoft.com/office/drawing/2014/main" id="{4CF0C483-ABA0-B6A4-D648-A8539B20C88F}"/>
              </a:ext>
            </a:extLst>
          </p:cNvPr>
          <p:cNvSpPr txBox="1"/>
          <p:nvPr/>
        </p:nvSpPr>
        <p:spPr>
          <a:xfrm>
            <a:off x="379412" y="3161646"/>
            <a:ext cx="4800600" cy="2751522"/>
          </a:xfrm>
          <a:prstGeom prst="rect">
            <a:avLst/>
          </a:prstGeom>
          <a:noFill/>
        </p:spPr>
        <p:txBody>
          <a:bodyPr wrap="square" rtlCol="0">
            <a:spAutoFit/>
          </a:bodyPr>
          <a:lstStyle/>
          <a:p>
            <a:pPr marL="342900" indent="-342900">
              <a:lnSpc>
                <a:spcPct val="90000"/>
              </a:lnSpc>
              <a:buFont typeface="Arial" panose="020B0604020202020204" pitchFamily="34" charset="0"/>
              <a:buChar char="•"/>
            </a:pPr>
            <a:r>
              <a:rPr lang="en-US" sz="2400" dirty="0"/>
              <a:t>Shows the role of targeted policy changes</a:t>
            </a:r>
          </a:p>
          <a:p>
            <a:pPr marL="342900" indent="-342900">
              <a:lnSpc>
                <a:spcPct val="90000"/>
              </a:lnSpc>
              <a:buFont typeface="Arial" panose="020B0604020202020204" pitchFamily="34" charset="0"/>
              <a:buChar char="•"/>
            </a:pPr>
            <a:r>
              <a:rPr lang="en-US" sz="2400" dirty="0"/>
              <a:t>Helps guide resource allocation and development planning</a:t>
            </a:r>
          </a:p>
          <a:p>
            <a:pPr marL="342900" indent="-342900">
              <a:lnSpc>
                <a:spcPct val="90000"/>
              </a:lnSpc>
              <a:buFont typeface="Arial" panose="020B0604020202020204" pitchFamily="34" charset="0"/>
              <a:buChar char="•"/>
            </a:pPr>
            <a:r>
              <a:rPr lang="en-US" sz="2400" dirty="0"/>
              <a:t>Shows realistic paths to higher well-being</a:t>
            </a:r>
          </a:p>
          <a:p>
            <a:pPr marL="342900" indent="-342900">
              <a:lnSpc>
                <a:spcPct val="90000"/>
              </a:lnSpc>
              <a:buFont typeface="Arial" panose="020B0604020202020204" pitchFamily="34" charset="0"/>
              <a:buChar char="•"/>
            </a:pPr>
            <a:endParaRPr lang="en-US" sz="2400" dirty="0"/>
          </a:p>
        </p:txBody>
      </p:sp>
    </p:spTree>
    <p:extLst>
      <p:ext uri="{BB962C8B-B14F-4D97-AF65-F5344CB8AC3E}">
        <p14:creationId xmlns:p14="http://schemas.microsoft.com/office/powerpoint/2010/main" val="187093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217612" y="1143000"/>
            <a:ext cx="9753600" cy="1504950"/>
          </a:xfrm>
        </p:spPr>
        <p:txBody>
          <a:bodyPr anchor="b">
            <a:normAutofit/>
          </a:bodyPr>
          <a:lstStyle/>
          <a:p>
            <a:pPr algn="ctr"/>
            <a:r>
              <a:rPr lang="en-US" dirty="0"/>
              <a:t>What can we learn from the happiest countries?</a:t>
            </a:r>
          </a:p>
        </p:txBody>
      </p:sp>
      <p:sp>
        <p:nvSpPr>
          <p:cNvPr id="16" name="Subtitle 2">
            <a:extLst>
              <a:ext uri="{FF2B5EF4-FFF2-40B4-BE49-F238E27FC236}">
                <a16:creationId xmlns:a16="http://schemas.microsoft.com/office/drawing/2014/main" id="{87F53F2A-82A8-240C-7B3F-94090FF2C806}"/>
              </a:ext>
            </a:extLst>
          </p:cNvPr>
          <p:cNvSpPr>
            <a:spLocks noGrp="1"/>
          </p:cNvSpPr>
          <p:nvPr>
            <p:ph type="subTitle" idx="1"/>
          </p:nvPr>
        </p:nvSpPr>
        <p:spPr>
          <a:xfrm>
            <a:off x="2170112" y="3124200"/>
            <a:ext cx="7848600" cy="2286000"/>
          </a:xfrm>
        </p:spPr>
        <p:txBody>
          <a:bodyPr>
            <a:normAutofit/>
          </a:bodyPr>
          <a:lstStyle/>
          <a:p>
            <a:pPr marL="342900" indent="-342900">
              <a:lnSpc>
                <a:spcPct val="150000"/>
              </a:lnSpc>
              <a:buFont typeface="Arial" panose="020B0604020202020204" pitchFamily="34" charset="0"/>
              <a:buChar char="•"/>
            </a:pPr>
            <a:r>
              <a:rPr lang="en-US" sz="2200" dirty="0"/>
              <a:t>GDP matters but only up to a point</a:t>
            </a:r>
          </a:p>
          <a:p>
            <a:pPr marL="342900" indent="-342900">
              <a:lnSpc>
                <a:spcPct val="150000"/>
              </a:lnSpc>
              <a:buFont typeface="Arial" panose="020B0604020202020204" pitchFamily="34" charset="0"/>
              <a:buChar char="•"/>
            </a:pPr>
            <a:r>
              <a:rPr lang="en-US" sz="2200" dirty="0"/>
              <a:t>Health and education are powerful happiness drivers</a:t>
            </a:r>
          </a:p>
          <a:p>
            <a:pPr marL="342900" indent="-342900">
              <a:lnSpc>
                <a:spcPct val="150000"/>
              </a:lnSpc>
              <a:buFont typeface="Arial" panose="020B0604020202020204" pitchFamily="34" charset="0"/>
              <a:buChar char="•"/>
            </a:pPr>
            <a:r>
              <a:rPr lang="en-US" sz="2200" dirty="0"/>
              <a:t>Balanced investment leads to sustainable well-being</a:t>
            </a:r>
          </a:p>
          <a:p>
            <a:pPr marL="342900" indent="-342900">
              <a:lnSpc>
                <a:spcPct val="150000"/>
              </a:lnSpc>
              <a:buFont typeface="Arial" panose="020B0604020202020204" pitchFamily="34" charset="0"/>
              <a:buChar char="•"/>
            </a:pPr>
            <a:r>
              <a:rPr lang="en-US" sz="2200" dirty="0"/>
              <a:t>Data can guide smarter policy</a:t>
            </a:r>
          </a:p>
        </p:txBody>
      </p:sp>
    </p:spTree>
    <p:extLst>
      <p:ext uri="{BB962C8B-B14F-4D97-AF65-F5344CB8AC3E}">
        <p14:creationId xmlns:p14="http://schemas.microsoft.com/office/powerpoint/2010/main" val="2514779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2AD23-8D5F-70B4-62A8-A2FDF39A63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E1583F7-47A7-ED6B-4784-FB193151C112}"/>
              </a:ext>
            </a:extLst>
          </p:cNvPr>
          <p:cNvSpPr>
            <a:spLocks noGrp="1"/>
          </p:cNvSpPr>
          <p:nvPr>
            <p:ph type="ctrTitle"/>
          </p:nvPr>
        </p:nvSpPr>
        <p:spPr>
          <a:xfrm>
            <a:off x="1217612" y="2857499"/>
            <a:ext cx="9753600" cy="1143001"/>
          </a:xfrm>
        </p:spPr>
        <p:txBody>
          <a:bodyPr anchor="b">
            <a:normAutofit/>
          </a:bodyPr>
          <a:lstStyle/>
          <a:p>
            <a:pPr algn="ctr"/>
            <a:r>
              <a:rPr lang="en-US" sz="6000" dirty="0"/>
              <a:t>Thank you</a:t>
            </a:r>
          </a:p>
        </p:txBody>
      </p:sp>
    </p:spTree>
    <p:extLst>
      <p:ext uri="{BB962C8B-B14F-4D97-AF65-F5344CB8AC3E}">
        <p14:creationId xmlns:p14="http://schemas.microsoft.com/office/powerpoint/2010/main" val="904646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rld Presentation 16x9">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2804891_win32_fixed.potx" id="{67E1CE12-4E7F-4E00-8450-70E8A44C0BA6}" vid="{5B359CD9-B23F-44EB-BBF8-9808683E469B}"/>
    </a:ext>
  </a:ext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maps series, World  presentation (widescreen)</Template>
  <TotalTime>3201</TotalTime>
  <Words>1890</Words>
  <Application>Microsoft Office PowerPoint</Application>
  <PresentationFormat>Custom</PresentationFormat>
  <Paragraphs>69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Century Gothic</vt:lpstr>
      <vt:lpstr>World Presentation 16x9</vt:lpstr>
      <vt:lpstr>The pursuit of happiness: what makes nations thrive?</vt:lpstr>
      <vt:lpstr>What are the key drivers of national happiness and how do they differ across countries?</vt:lpstr>
      <vt:lpstr>Happiness around the world 2024</vt:lpstr>
      <vt:lpstr>Regional differences in happiness: a snapshot</vt:lpstr>
      <vt:lpstr>How Regional happiness has changed over the years</vt:lpstr>
      <vt:lpstr>Does more money make us happier?</vt:lpstr>
      <vt:lpstr>The point of diminishing returns</vt:lpstr>
      <vt:lpstr>Health investment and well-being</vt:lpstr>
      <vt:lpstr>Education and opportunity</vt:lpstr>
      <vt:lpstr>How strong are these relationships?</vt:lpstr>
      <vt:lpstr>Top 5 vs bottom 5: what sets them apart?</vt:lpstr>
      <vt:lpstr>Balanced happiness: a comparison of key drivers</vt:lpstr>
      <vt:lpstr>What if -- improved health and education</vt:lpstr>
      <vt:lpstr>What can we learn from the happiest countries?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Brandon  Gray</dc:creator>
  <cp:lastModifiedBy>Brandon  Gray</cp:lastModifiedBy>
  <cp:revision>34</cp:revision>
  <dcterms:created xsi:type="dcterms:W3CDTF">2025-11-11T19:33:40Z</dcterms:created>
  <dcterms:modified xsi:type="dcterms:W3CDTF">2025-11-17T21:07:19Z</dcterms:modified>
</cp:coreProperties>
</file>